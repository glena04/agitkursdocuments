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0b3914ff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0b3914ff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Erik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b3914ff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b3914f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Yousif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b3914ff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b3914ff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b3914f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b3914f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Mohammed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253a71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1253a71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Mohammed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0b3914ff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0b3914ff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Dennis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b3914f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b3914f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b3914f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b3914f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Desmon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b3914ff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b3914ff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4ZyqZVtJ1GcpZ_DfxefpG8DvHQ5HzEmA/view" TargetMode="External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C5tiHMdghcM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497400"/>
          </a:xfrm>
          <a:prstGeom prst="rect">
            <a:avLst/>
          </a:prstGeom>
          <a:solidFill>
            <a:srgbClr val="15223A"/>
          </a:solidFill>
          <a:ln cap="flat" cmpd="sng" w="9525">
            <a:solidFill>
              <a:srgbClr val="152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AF8F5"/>
                </a:solidFill>
                <a:highlight>
                  <a:srgbClr val="15223A"/>
                </a:highlight>
              </a:rPr>
              <a:t>Projektmetodik och arbetsmetoder</a:t>
            </a:r>
            <a:endParaRPr sz="6300">
              <a:solidFill>
                <a:srgbClr val="FAF8F5"/>
              </a:solidFill>
              <a:highlight>
                <a:srgbClr val="15223A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642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50">
                <a:solidFill>
                  <a:srgbClr val="FAF8F5"/>
                </a:solidFill>
                <a:highlight>
                  <a:srgbClr val="15223A"/>
                </a:highlight>
              </a:rPr>
              <a:t>Agilt Projekt, Case StädaFint AB</a:t>
            </a:r>
            <a:endParaRPr b="1" sz="1950">
              <a:solidFill>
                <a:srgbClr val="FAF8F5"/>
              </a:solidFill>
              <a:highlight>
                <a:srgbClr val="15223A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59150" y="2571750"/>
            <a:ext cx="10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AF8F5"/>
                </a:solidFill>
              </a:rPr>
              <a:t>Grupp 3</a:t>
            </a:r>
            <a:endParaRPr sz="1800">
              <a:solidFill>
                <a:srgbClr val="FAF8F5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8270598" y="116229"/>
            <a:ext cx="757487" cy="744623"/>
            <a:chOff x="7687075" y="94300"/>
            <a:chExt cx="1298400" cy="1276350"/>
          </a:xfrm>
        </p:grpSpPr>
        <p:grpSp>
          <p:nvGrpSpPr>
            <p:cNvPr id="58" name="Google Shape;58;p13"/>
            <p:cNvGrpSpPr/>
            <p:nvPr/>
          </p:nvGrpSpPr>
          <p:grpSpPr>
            <a:xfrm>
              <a:off x="7687075" y="94300"/>
              <a:ext cx="1298400" cy="1276350"/>
              <a:chOff x="7687075" y="94275"/>
              <a:chExt cx="1298400" cy="1276350"/>
            </a:xfrm>
          </p:grpSpPr>
          <p:grpSp>
            <p:nvGrpSpPr>
              <p:cNvPr id="59" name="Google Shape;59;p13"/>
              <p:cNvGrpSpPr/>
              <p:nvPr/>
            </p:nvGrpSpPr>
            <p:grpSpPr>
              <a:xfrm>
                <a:off x="7687075" y="94275"/>
                <a:ext cx="1298400" cy="1276350"/>
                <a:chOff x="6534400" y="1295400"/>
                <a:chExt cx="1298400" cy="1276350"/>
              </a:xfrm>
            </p:grpSpPr>
            <p:sp>
              <p:nvSpPr>
                <p:cNvPr id="60" name="Google Shape;60;p13"/>
                <p:cNvSpPr/>
                <p:nvPr/>
              </p:nvSpPr>
              <p:spPr>
                <a:xfrm>
                  <a:off x="6592525" y="1295400"/>
                  <a:ext cx="619800" cy="532800"/>
                </a:xfrm>
                <a:prstGeom prst="bentArrow">
                  <a:avLst>
                    <a:gd fmla="val 25000" name="adj1"/>
                    <a:gd fmla="val 25000" name="adj2"/>
                    <a:gd fmla="val 25000" name="adj3"/>
                    <a:gd fmla="val 43750" name="adj4"/>
                  </a:avLst>
                </a:prstGeom>
                <a:solidFill>
                  <a:srgbClr val="FF0000"/>
                </a:solidFill>
                <a:ln cap="flat" cmpd="sng" w="5550">
                  <a:solidFill>
                    <a:srgbClr val="30303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325" lIns="53325" spcFirstLastPara="1" rIns="53325" wrap="square" tIns="533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6"/>
                </a:p>
              </p:txBody>
            </p:sp>
            <p:sp>
              <p:nvSpPr>
                <p:cNvPr id="61" name="Google Shape;61;p13"/>
                <p:cNvSpPr/>
                <p:nvPr/>
              </p:nvSpPr>
              <p:spPr>
                <a:xfrm rot="10800000">
                  <a:off x="7168950" y="2038950"/>
                  <a:ext cx="619800" cy="532800"/>
                </a:xfrm>
                <a:prstGeom prst="bentArrow">
                  <a:avLst>
                    <a:gd fmla="val 25000" name="adj1"/>
                    <a:gd fmla="val 25000" name="adj2"/>
                    <a:gd fmla="val 25000" name="adj3"/>
                    <a:gd fmla="val 43750" name="adj4"/>
                  </a:avLst>
                </a:prstGeom>
                <a:solidFill>
                  <a:srgbClr val="6AA84F"/>
                </a:solidFill>
                <a:ln cap="flat" cmpd="sng" w="5550">
                  <a:solidFill>
                    <a:srgbClr val="30303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325" lIns="53325" spcFirstLastPara="1" rIns="53325" wrap="square" tIns="533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6"/>
                </a:p>
              </p:txBody>
            </p:sp>
            <p:sp>
              <p:nvSpPr>
                <p:cNvPr id="62" name="Google Shape;62;p13"/>
                <p:cNvSpPr/>
                <p:nvPr/>
              </p:nvSpPr>
              <p:spPr>
                <a:xfrm rot="-5400000">
                  <a:off x="6490900" y="1934575"/>
                  <a:ext cx="619800" cy="532800"/>
                </a:xfrm>
                <a:prstGeom prst="bentArrow">
                  <a:avLst>
                    <a:gd fmla="val 25000" name="adj1"/>
                    <a:gd fmla="val 25000" name="adj2"/>
                    <a:gd fmla="val 25000" name="adj3"/>
                    <a:gd fmla="val 43750" name="adj4"/>
                  </a:avLst>
                </a:prstGeom>
                <a:solidFill>
                  <a:srgbClr val="FFFF00"/>
                </a:solidFill>
                <a:ln cap="flat" cmpd="sng" w="5550">
                  <a:solidFill>
                    <a:srgbClr val="30303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325" lIns="53325" spcFirstLastPara="1" rIns="53325" wrap="square" tIns="533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6"/>
                </a:p>
              </p:txBody>
            </p:sp>
            <p:sp>
              <p:nvSpPr>
                <p:cNvPr id="63" name="Google Shape;63;p13"/>
                <p:cNvSpPr/>
                <p:nvPr/>
              </p:nvSpPr>
              <p:spPr>
                <a:xfrm rot="5400000">
                  <a:off x="7256500" y="1401950"/>
                  <a:ext cx="619800" cy="532800"/>
                </a:xfrm>
                <a:prstGeom prst="bentArrow">
                  <a:avLst>
                    <a:gd fmla="val 25000" name="adj1"/>
                    <a:gd fmla="val 25000" name="adj2"/>
                    <a:gd fmla="val 25000" name="adj3"/>
                    <a:gd fmla="val 43750" name="adj4"/>
                  </a:avLst>
                </a:prstGeom>
                <a:solidFill>
                  <a:srgbClr val="1155CC"/>
                </a:solidFill>
                <a:ln cap="flat" cmpd="sng" w="5550">
                  <a:solidFill>
                    <a:srgbClr val="30303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325" lIns="53325" spcFirstLastPara="1" rIns="53325" wrap="square" tIns="533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6"/>
                </a:p>
              </p:txBody>
            </p:sp>
          </p:grpSp>
          <p:sp>
            <p:nvSpPr>
              <p:cNvPr id="64" name="Google Shape;64;p13"/>
              <p:cNvSpPr txBox="1"/>
              <p:nvPr/>
            </p:nvSpPr>
            <p:spPr>
              <a:xfrm>
                <a:off x="7857375" y="414425"/>
                <a:ext cx="1035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3325" lIns="53325" spcFirstLastPara="1" rIns="53325" wrap="square" tIns="533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FF00FF"/>
                    </a:solidFill>
                  </a:rPr>
                  <a:t>A G I L</a:t>
                </a:r>
                <a:endParaRPr b="1" sz="1050">
                  <a:solidFill>
                    <a:srgbClr val="FF00FF"/>
                  </a:solidFill>
                </a:endParaRPr>
              </a:p>
            </p:txBody>
          </p:sp>
        </p:grpSp>
        <p:sp>
          <p:nvSpPr>
            <p:cNvPr id="65" name="Google Shape;65;p13"/>
            <p:cNvSpPr txBox="1"/>
            <p:nvPr/>
          </p:nvSpPr>
          <p:spPr>
            <a:xfrm>
              <a:off x="7806925" y="699575"/>
              <a:ext cx="10587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41">
                  <a:solidFill>
                    <a:srgbClr val="00FFFF"/>
                  </a:solidFill>
                </a:rPr>
                <a:t> Development</a:t>
              </a:r>
              <a:endParaRPr sz="641">
                <a:solidFill>
                  <a:srgbClr val="00FFFF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13" y="131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AF8F5"/>
                </a:solidFill>
              </a:rPr>
              <a:t>Project Showcase</a:t>
            </a:r>
            <a:endParaRPr>
              <a:solidFill>
                <a:srgbClr val="FAF8F5"/>
              </a:solidFill>
            </a:endParaRPr>
          </a:p>
        </p:txBody>
      </p:sp>
      <p:pic>
        <p:nvPicPr>
          <p:cNvPr id="71" name="Google Shape;71;p14" title="Inspelning 2025-12-16 13072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388" y="704425"/>
            <a:ext cx="7673220" cy="42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AF8F5"/>
                </a:solidFill>
              </a:rPr>
              <a:t>Start av grupp 3</a:t>
            </a:r>
            <a:endParaRPr>
              <a:solidFill>
                <a:srgbClr val="FAF8F5"/>
              </a:solidFill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636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Discord-server.</a:t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Uppstart av Jira.</a:t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Grupp Kontrakt</a:t>
            </a:r>
            <a:r>
              <a:rPr lang="en-GB">
                <a:solidFill>
                  <a:srgbClr val="FAF8F5"/>
                </a:solidFill>
              </a:rPr>
              <a:t> och S</a:t>
            </a:r>
            <a:r>
              <a:rPr lang="en-GB">
                <a:solidFill>
                  <a:srgbClr val="FAF8F5"/>
                </a:solidFill>
              </a:rPr>
              <a:t>crum</a:t>
            </a:r>
            <a:r>
              <a:rPr lang="en-GB">
                <a:solidFill>
                  <a:srgbClr val="FAF8F5"/>
                </a:solidFill>
              </a:rPr>
              <a:t> master.</a:t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Gruppmöten.</a:t>
            </a:r>
            <a:endParaRPr>
              <a:solidFill>
                <a:srgbClr val="FAF8F5"/>
              </a:solidFill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615471" y="2228614"/>
            <a:ext cx="1816922" cy="1264108"/>
            <a:chOff x="-12" y="3280775"/>
            <a:chExt cx="2597087" cy="1806900"/>
          </a:xfrm>
        </p:grpSpPr>
        <p:pic>
          <p:nvPicPr>
            <p:cNvPr id="79" name="Google Shape;7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300" y="3280775"/>
              <a:ext cx="2508774" cy="180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0388" y="3378225"/>
              <a:ext cx="800100" cy="8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14363" y="3309825"/>
              <a:ext cx="809625" cy="8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2" y="4085925"/>
              <a:ext cx="809625" cy="8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74738" y="4148025"/>
              <a:ext cx="809625" cy="838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Prototype</a:t>
            </a:r>
            <a:r>
              <a:rPr b="1" lang="en-GB">
                <a:solidFill>
                  <a:schemeClr val="lt1"/>
                </a:solidFill>
              </a:rPr>
              <a:t> av hemsidan</a:t>
            </a:r>
            <a:r>
              <a:rPr lang="en-GB">
                <a:solidFill>
                  <a:schemeClr val="lt1"/>
                </a:solidFill>
              </a:rPr>
              <a:t> 							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n portotype av hemsidan som skapat åt StädaFint AB" id="90" name="Google Shape;90;p16" title="Portotyp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25" y="572700"/>
            <a:ext cx="8613975" cy="43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87475"/>
            <a:ext cx="8520600" cy="572700"/>
          </a:xfrm>
          <a:prstGeom prst="rect">
            <a:avLst/>
          </a:prstGeom>
          <a:ln cap="flat" cmpd="sng" w="9525">
            <a:solidFill>
              <a:srgbClr val="FAF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FAF8F5"/>
                </a:solidFill>
              </a:rPr>
              <a:t>Största lärdomar som kommer hjälpa i framtida yrkesroll - Muhammad Akanda</a:t>
            </a:r>
            <a:endParaRPr>
              <a:solidFill>
                <a:srgbClr val="FAF8F5"/>
              </a:solidFill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787100"/>
            <a:ext cx="8698200" cy="40065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800">
                <a:solidFill>
                  <a:srgbClr val="FAF8F5"/>
                </a:solidFill>
              </a:rPr>
              <a:t>Största lärdomar :</a:t>
            </a:r>
            <a:endParaRPr sz="10400">
              <a:solidFill>
                <a:srgbClr val="FAF8F5"/>
              </a:solidFill>
            </a:endParaRPr>
          </a:p>
          <a:p>
            <a:pPr indent="-317500" lvl="0" marL="914400" rtl="0" algn="l">
              <a:spcBef>
                <a:spcPts val="1200"/>
              </a:spcBef>
              <a:spcAft>
                <a:spcPts val="0"/>
              </a:spcAft>
              <a:buClr>
                <a:srgbClr val="FAF8F5"/>
              </a:buClr>
              <a:buSzPct val="100000"/>
              <a:buChar char="❖"/>
            </a:pPr>
            <a:r>
              <a:rPr lang="en-GB" sz="5600">
                <a:solidFill>
                  <a:srgbClr val="FAF8F5"/>
                </a:solidFill>
              </a:rPr>
              <a:t>Agilt tänkande över metoderna</a:t>
            </a:r>
            <a:endParaRPr sz="5600">
              <a:solidFill>
                <a:srgbClr val="FAF8F5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Char char="❖"/>
            </a:pPr>
            <a:r>
              <a:rPr lang="en-GB" sz="5600">
                <a:solidFill>
                  <a:srgbClr val="FAF8F5"/>
                </a:solidFill>
              </a:rPr>
              <a:t>Rollförståelse – särskilt PO vs Projektledare, Scrum Master</a:t>
            </a:r>
            <a:endParaRPr sz="5600">
              <a:solidFill>
                <a:schemeClr val="lt1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Char char="❖"/>
            </a:pPr>
            <a:r>
              <a:rPr lang="en-GB" sz="5600">
                <a:solidFill>
                  <a:srgbClr val="FAF8F5"/>
                </a:solidFill>
              </a:rPr>
              <a:t>Struktur och transparent skapar trygghet</a:t>
            </a:r>
            <a:endParaRPr sz="5600">
              <a:solidFill>
                <a:srgbClr val="FAF8F5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Char char="❖"/>
            </a:pPr>
            <a:r>
              <a:rPr lang="en-GB" sz="5600">
                <a:solidFill>
                  <a:schemeClr val="lt1"/>
                </a:solidFill>
              </a:rPr>
              <a:t>Kommunikation är viktigare än perfekta planer</a:t>
            </a:r>
            <a:endParaRPr sz="5600">
              <a:solidFill>
                <a:srgbClr val="FAF8F5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Char char="❖"/>
            </a:pPr>
            <a:r>
              <a:rPr lang="en-GB" sz="5600">
                <a:solidFill>
                  <a:srgbClr val="FAF8F5"/>
                </a:solidFill>
              </a:rPr>
              <a:t>Små leverans ger stora framsteg</a:t>
            </a:r>
            <a:endParaRPr sz="5600">
              <a:solidFill>
                <a:srgbClr val="FAF8F5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❖"/>
            </a:pPr>
            <a:r>
              <a:rPr lang="en-GB" sz="5600">
                <a:solidFill>
                  <a:schemeClr val="lt1"/>
                </a:solidFill>
              </a:rPr>
              <a:t>Retrospectives driver verklig förbättring/  alltid sträva efter förbättring</a:t>
            </a:r>
            <a:endParaRPr sz="5600">
              <a:solidFill>
                <a:schemeClr val="lt1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❖"/>
            </a:pPr>
            <a:r>
              <a:rPr lang="en-GB" sz="5600">
                <a:solidFill>
                  <a:schemeClr val="lt1"/>
                </a:solidFill>
              </a:rPr>
              <a:t>Agilt arbetssätt minskar stress och ökar kvalitet</a:t>
            </a:r>
            <a:endParaRPr sz="5600">
              <a:solidFill>
                <a:schemeClr val="lt1"/>
              </a:solidFill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❖"/>
            </a:pPr>
            <a:r>
              <a:rPr lang="en-GB" sz="5600">
                <a:solidFill>
                  <a:schemeClr val="lt1"/>
                </a:solidFill>
              </a:rPr>
              <a:t>Verktyg för att skapa översikt och följa upp</a:t>
            </a:r>
            <a:endParaRPr sz="5600">
              <a:solidFill>
                <a:schemeClr val="lt1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❖"/>
            </a:pPr>
            <a:r>
              <a:rPr lang="en-GB" sz="5200">
                <a:solidFill>
                  <a:schemeClr val="lt1"/>
                </a:solidFill>
              </a:rPr>
              <a:t>Riskhantering i agila projekt</a:t>
            </a:r>
            <a:endParaRPr sz="5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400">
                <a:solidFill>
                  <a:srgbClr val="FAF8F5"/>
                </a:solidFill>
              </a:rPr>
              <a:t>kommer hjälpa i framtida yrkesroll</a:t>
            </a:r>
            <a:r>
              <a:rPr lang="en-GB" sz="9200">
                <a:solidFill>
                  <a:schemeClr val="lt1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5600">
                <a:solidFill>
                  <a:schemeClr val="lt1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att:</a:t>
            </a:r>
            <a:endParaRPr sz="5600">
              <a:solidFill>
                <a:schemeClr val="lt1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FAF8F5"/>
              </a:buClr>
              <a:buSzPct val="100000"/>
              <a:buFont typeface="Roboto"/>
              <a:buAutoNum type="arabicPeriod"/>
            </a:pPr>
            <a:r>
              <a:rPr lang="en-GB" sz="5600">
                <a:solidFill>
                  <a:srgbClr val="FAF8F5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Börja med visionen – alltid.</a:t>
            </a:r>
            <a:endParaRPr sz="5600">
              <a:solidFill>
                <a:srgbClr val="FAF8F5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Font typeface="Roboto"/>
              <a:buAutoNum type="arabicPeriod"/>
            </a:pPr>
            <a:r>
              <a:rPr lang="en-GB" sz="5600">
                <a:solidFill>
                  <a:srgbClr val="FAF8F5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Bryta ner krav tillsammans – inte i ensamhet.</a:t>
            </a:r>
            <a:endParaRPr sz="5600">
              <a:solidFill>
                <a:srgbClr val="FAF8F5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Font typeface="Roboto"/>
              <a:buAutoNum type="arabicPeriod"/>
            </a:pPr>
            <a:r>
              <a:rPr lang="en-GB" sz="5600">
                <a:solidFill>
                  <a:srgbClr val="FAF8F5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Visualisera status – sluta med otydliga rapporter.</a:t>
            </a:r>
            <a:endParaRPr sz="5600">
              <a:solidFill>
                <a:srgbClr val="FAF8F5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ct val="100000"/>
              <a:buFont typeface="Roboto"/>
              <a:buAutoNum type="arabicPeriod"/>
            </a:pPr>
            <a:r>
              <a:rPr lang="en-GB" sz="5600">
                <a:solidFill>
                  <a:srgbClr val="FAF8F5"/>
                </a:solidFill>
                <a:highlight>
                  <a:srgbClr val="151517"/>
                </a:highlight>
                <a:latin typeface="Roboto"/>
                <a:ea typeface="Roboto"/>
                <a:cs typeface="Roboto"/>
                <a:sym typeface="Roboto"/>
              </a:rPr>
              <a:t>Lyssna aktivt i retros – det är där förbättring börjar.</a:t>
            </a:r>
            <a:endParaRPr sz="5600">
              <a:solidFill>
                <a:srgbClr val="FAF8F5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AF8F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739">
              <a:solidFill>
                <a:srgbClr val="FAF8F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 title="Agila lärdomar för framtida yrkesroller - Muhammad Akan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19750" y="-264525"/>
            <a:ext cx="10750751" cy="54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66">
                <a:solidFill>
                  <a:srgbClr val="FAF8F5"/>
                </a:solidFill>
              </a:rPr>
              <a:t>Hinder på vägen &amp; hur ni löste dem</a:t>
            </a:r>
            <a:r>
              <a:rPr lang="en-GB" sz="1800">
                <a:solidFill>
                  <a:srgbClr val="FAF8F5"/>
                </a:solidFill>
              </a:rPr>
              <a:t> </a:t>
            </a:r>
            <a:r>
              <a:rPr lang="en-GB">
                <a:solidFill>
                  <a:srgbClr val="FAF8F5"/>
                </a:solidFill>
              </a:rPr>
              <a:t> </a:t>
            </a:r>
            <a:endParaRPr>
              <a:solidFill>
                <a:srgbClr val="FAF8F5"/>
              </a:solidFill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2289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9FAFB"/>
                </a:solidFill>
              </a:rPr>
              <a:t>Förutsättningar                                        </a:t>
            </a:r>
            <a:r>
              <a:rPr b="1" lang="en-GB">
                <a:solidFill>
                  <a:srgbClr val="F9FAFB"/>
                </a:solidFill>
              </a:rPr>
              <a:t>                          </a:t>
            </a:r>
            <a:endParaRPr b="1">
              <a:solidFill>
                <a:srgbClr val="F9FAFB"/>
              </a:solidFill>
            </a:endParaRPr>
          </a:p>
          <a:p>
            <a:pPr indent="-31571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72"/>
              <a:buChar char="-"/>
            </a:pPr>
            <a:r>
              <a:rPr i="1" lang="en-GB" sz="1371">
                <a:solidFill>
                  <a:schemeClr val="lt1"/>
                </a:solidFill>
              </a:rPr>
              <a:t>Engagemang </a:t>
            </a:r>
            <a:endParaRPr i="1" sz="1371">
              <a:solidFill>
                <a:schemeClr val="lt1"/>
              </a:solidFill>
            </a:endParaRPr>
          </a:p>
          <a:p>
            <a:pPr indent="-31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72"/>
              <a:buChar char="-"/>
            </a:pPr>
            <a:r>
              <a:rPr i="1" lang="en-GB" sz="1371">
                <a:solidFill>
                  <a:schemeClr val="lt1"/>
                </a:solidFill>
              </a:rPr>
              <a:t>Fokus </a:t>
            </a:r>
            <a:endParaRPr i="1" sz="1371">
              <a:solidFill>
                <a:schemeClr val="lt1"/>
              </a:solidFill>
            </a:endParaRPr>
          </a:p>
          <a:p>
            <a:pPr indent="-31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72"/>
              <a:buChar char="-"/>
            </a:pPr>
            <a:r>
              <a:rPr i="1" lang="en-GB" sz="1371">
                <a:solidFill>
                  <a:schemeClr val="lt1"/>
                </a:solidFill>
              </a:rPr>
              <a:t>Öppenhet </a:t>
            </a:r>
            <a:endParaRPr i="1" sz="1371">
              <a:solidFill>
                <a:schemeClr val="lt1"/>
              </a:solidFill>
            </a:endParaRPr>
          </a:p>
          <a:p>
            <a:pPr indent="-31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72"/>
              <a:buChar char="-"/>
            </a:pPr>
            <a:r>
              <a:rPr i="1" lang="en-GB" sz="1371">
                <a:solidFill>
                  <a:schemeClr val="lt1"/>
                </a:solidFill>
              </a:rPr>
              <a:t>Respekt </a:t>
            </a:r>
            <a:endParaRPr i="1" sz="1371">
              <a:solidFill>
                <a:schemeClr val="lt1"/>
              </a:solidFill>
            </a:endParaRPr>
          </a:p>
          <a:p>
            <a:pPr indent="-31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72"/>
              <a:buChar char="-"/>
            </a:pPr>
            <a:r>
              <a:rPr i="1" lang="en-GB" sz="1371">
                <a:solidFill>
                  <a:schemeClr val="lt1"/>
                </a:solidFill>
              </a:rPr>
              <a:t>Mod</a:t>
            </a:r>
            <a:endParaRPr i="1" sz="137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AF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100" y="1276700"/>
            <a:ext cx="5125050" cy="29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</a:rPr>
              <a:t>Vad har varit era styrkor &amp; Hur har ni nyttjat dem?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GB" sz="4882">
                <a:solidFill>
                  <a:schemeClr val="lt1"/>
                </a:solidFill>
              </a:rPr>
              <a:t>Våra viktigaste styrkor som grupp</a:t>
            </a:r>
            <a:endParaRPr b="1" sz="488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685"/>
              <a:buFont typeface="Arial"/>
              <a:buNone/>
            </a:pPr>
            <a:r>
              <a:rPr b="1" lang="en-GB" sz="4282">
                <a:solidFill>
                  <a:schemeClr val="lt1"/>
                </a:solidFill>
              </a:rPr>
              <a:t>1. Kommunikation och transparens</a:t>
            </a:r>
            <a:endParaRPr b="1"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Öppen dialog framför perfekta planer.</a:t>
            </a:r>
            <a:endParaRPr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Bra samarbete och god förståelse</a:t>
            </a:r>
            <a:endParaRPr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Skapade trygghet och snabb problemlösning.</a:t>
            </a:r>
            <a:endParaRPr sz="428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685"/>
              <a:buFont typeface="Arial"/>
              <a:buNone/>
            </a:pPr>
            <a:r>
              <a:rPr b="1" lang="en-GB" sz="4282">
                <a:solidFill>
                  <a:schemeClr val="lt1"/>
                </a:solidFill>
              </a:rPr>
              <a:t>2. Agilt mindset över rigida metoder</a:t>
            </a:r>
            <a:endParaRPr b="1"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Fokuserade på agila värderingar snarare än regler.</a:t>
            </a:r>
            <a:endParaRPr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Anpassade arbetssättet till vårt team om 7 personer.</a:t>
            </a:r>
            <a:endParaRPr sz="4282">
              <a:solidFill>
                <a:schemeClr val="lt1"/>
              </a:solidFill>
            </a:endParaRPr>
          </a:p>
          <a:p>
            <a:pPr indent="-31698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sz="4282">
                <a:solidFill>
                  <a:schemeClr val="lt1"/>
                </a:solidFill>
              </a:rPr>
              <a:t>Flexibilitet och lärande framför att "göra rätt".</a:t>
            </a:r>
            <a:endParaRPr sz="428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AF8F5"/>
                </a:solidFill>
              </a:rPr>
              <a:t>Svagheter → </a:t>
            </a:r>
            <a:r>
              <a:rPr lang="en-GB">
                <a:solidFill>
                  <a:srgbClr val="FAF8F5"/>
                </a:solidFill>
              </a:rPr>
              <a:t>Åtgärder</a:t>
            </a:r>
            <a:endParaRPr>
              <a:solidFill>
                <a:srgbClr val="FAF8F5"/>
              </a:solidFill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AF8F5"/>
                </a:solidFill>
              </a:rPr>
              <a:t>Vad har varit era svagheter &amp; hur har ni hanterat dem?</a:t>
            </a:r>
            <a:endParaRPr>
              <a:solidFill>
                <a:srgbClr val="FAF8F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Otydliga roller → tydligt ansvar/ägarskap och beslutsvägar.</a:t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Scope creep &amp; fel estimering → MVP + hårdare prioritering </a:t>
            </a:r>
            <a:endParaRPr>
              <a:solidFill>
                <a:srgbClr val="FAF8F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1800"/>
              <a:buChar char="●"/>
            </a:pPr>
            <a:r>
              <a:rPr lang="en-GB">
                <a:solidFill>
                  <a:srgbClr val="FAF8F5"/>
                </a:solidFill>
              </a:rPr>
              <a:t>Kommunikationsgap → avstämningar + dokumentation + tydlig status</a:t>
            </a:r>
            <a:endParaRPr>
              <a:solidFill>
                <a:srgbClr val="FAF8F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8F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AF8F5"/>
                </a:solidFill>
              </a:rPr>
              <a:t>Effekt: Högre tempo, mindre dubbelarbete, bättre leverans</a:t>
            </a:r>
            <a:endParaRPr>
              <a:solidFill>
                <a:srgbClr val="FAF8F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B2D"/>
            </a:gs>
            <a:gs pos="100000">
              <a:srgbClr val="1B2944"/>
            </a:gs>
          </a:gsLst>
          <a:lin ang="2700006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200">
                <a:solidFill>
                  <a:srgbClr val="FAF8F5"/>
                </a:solidFill>
              </a:rPr>
              <a:t>Frågor</a:t>
            </a:r>
            <a:r>
              <a:rPr lang="en-GB" sz="2800">
                <a:solidFill>
                  <a:srgbClr val="FAF8F5"/>
                </a:solidFill>
              </a:rPr>
              <a:t> </a:t>
            </a:r>
            <a:endParaRPr>
              <a:solidFill>
                <a:srgbClr val="FAF8F5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4900" y="2142875"/>
            <a:ext cx="357650" cy="48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